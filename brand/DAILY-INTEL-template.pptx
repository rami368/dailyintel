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gain %</c:v>
                </c:pt>
              </c:strCache>
            </c:strRef>
          </c:tx>
          <c:spPr>
            <a:solidFill>
              <a:srgbClr val="00F5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4E8EF"/>
                    </a:solidFill>
                    <a:latin typeface="JetBrains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19</c:v>
                </c:pt>
                <c:pt idx="2">
                  <c:v>9</c:v>
                </c:pt>
                <c:pt idx="3">
                  <c:v>24</c:v>
                </c:pt>
                <c:pt idx="4">
                  <c:v>31</c:v>
                </c:pt>
                <c:pt idx="5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4E8EF"/>
                  </a:solidFill>
                  <a:latin typeface="JetBrains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E2530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05868"/>
                </a:solidFill>
                <a:latin typeface="JetBrains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5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05868"/>
                </a:solidFill>
                <a:latin typeface="JetBrains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6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475488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48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280160" y="55778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4E8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DAILY INTEL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280160" y="8321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PENNY STOCK DISCOVERY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40080" y="23317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E4E8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Presentation Title Goes Here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40080" y="4160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A SUBTITLE OR ONE-LINE SUMMARY OF THE DECK_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534924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0C1017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486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JUL 2026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57790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788920" y="534924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0C1017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88920" y="5486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NAME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788920" y="57790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AUTHOR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937760" y="534924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0C1017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37760" y="5486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DRAFT v1.0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37760" y="57790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E4E8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786384"/>
          </a:xfrm>
          <a:prstGeom prst="roundRect">
            <a:avLst>
              <a:gd name="adj" fmla="val 13953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5623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83080" y="18013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8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Market Context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83080" y="211226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the opportunity sits today and why timing matters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10908792" cy="786384"/>
          </a:xfrm>
          <a:prstGeom prst="roundRect">
            <a:avLst>
              <a:gd name="adj" fmla="val 13953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788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83080" y="27340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8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Signal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83080" y="30449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our data is telling us — scans, scores, and catalysts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557016"/>
            <a:ext cx="10908792" cy="786384"/>
          </a:xfrm>
          <a:prstGeom prst="roundRect">
            <a:avLst>
              <a:gd name="adj" fmla="val 13953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7216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83080" y="36667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8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 Picks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83080" y="39776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This period's highest-conviction discoveries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489704"/>
            <a:ext cx="10908792" cy="786384"/>
          </a:xfrm>
          <a:prstGeom prst="roundRect">
            <a:avLst>
              <a:gd name="adj" fmla="val 13953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6542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4599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8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Strategy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83080" y="491032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Entries, targets, stops, and risk management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422392"/>
            <a:ext cx="10908792" cy="786384"/>
          </a:xfrm>
          <a:prstGeom prst="roundRect">
            <a:avLst>
              <a:gd name="adj" fmla="val 13953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5869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783080" y="5532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E8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83080" y="584301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happens after this meeting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DAILY INTEL — PENNY STOCK DISCOVERY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720072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218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0" dirty="0"/>
          </a:p>
        </p:txBody>
      </p:sp>
      <p:pic>
        <p:nvPicPr>
          <p:cNvPr id="3" name="Image 0" descr="grad-str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86200"/>
            <a:ext cx="1463040" cy="822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SECTION 01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4480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4E8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Section Title Goes Here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85800" y="5349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supporting sentence that frames what this section covers.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DAILY INTEL — PENNY STOCK DISCOVERY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9720072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CONTENT LAYOUT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E4E8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Two-Column: Narrative + Callout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buSzPct val="100000"/>
              <a:buChar char="▸"/>
            </a:pPr>
            <a:r>
              <a:rPr lang="en-US" sz="1400" b="1" dirty="0">
                <a:solidFill>
                  <a:srgbClr val="E4E8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Lead with the takeaway.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Each bullet states one idea; keep it under two lines.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buSzPct val="100000"/>
              <a:buChar char="▸"/>
            </a:pPr>
            <a:r>
              <a:rPr lang="en-US" sz="1400" b="1" dirty="0">
                <a:solidFill>
                  <a:srgbClr val="E4E8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Support with data.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Reference the numbers on the right — never bury the metric in prose.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buSzPct val="100000"/>
              <a:buChar char="▸"/>
            </a:pPr>
            <a:r>
              <a:rPr lang="en-US" sz="1400" b="1" dirty="0">
                <a:solidFill>
                  <a:srgbClr val="E4E8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Flag the risk.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Every claim gets a counterweight; the brand is candid about downside.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7548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buSzPct val="100000"/>
              <a:buChar char="▸"/>
            </a:pPr>
            <a:r>
              <a:rPr lang="en-US" sz="1400" b="1" dirty="0">
                <a:solidFill>
                  <a:srgbClr val="E4E8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End with an action.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What should the audience do with this information?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1691640"/>
            <a:ext cx="4233672" cy="4160520"/>
          </a:xfrm>
          <a:prstGeom prst="roundRect">
            <a:avLst>
              <a:gd name="adj" fmla="val 2637"/>
            </a:avLst>
          </a:prstGeom>
          <a:solidFill>
            <a:srgbClr val="0C1017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2011680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 METRIC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35240" y="2331720"/>
            <a:ext cx="3593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+68%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7635240" y="3429000"/>
            <a:ext cx="3593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Average gain across top-decile signals, last 90 days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35240" y="4160520"/>
            <a:ext cx="3593592" cy="1280160"/>
          </a:xfrm>
          <a:prstGeom prst="roundRect">
            <a:avLst>
              <a:gd name="adj" fmla="val 8571"/>
            </a:avLst>
          </a:prstGeom>
          <a:solidFill>
            <a:srgbClr val="06080C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4315968"/>
            <a:ext cx="3227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00" spc="2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this inset box for a caveat, methodology note, or comparison baseline.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DAILY INTEL — PENNY STOCK DISCOVERY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720072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09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KEY NUMBERS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E4E8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Scan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774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STOCKS SCANNED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Universe refreshed daily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29584" y="192024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9584" y="23774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39D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712464" y="3383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OPPORTUNITIES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58184" y="3794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Passed all screen filters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19088" y="192024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23774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23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87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601968" y="3383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TOP SCORE / 100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47688" y="3794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Multi-factor composite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308592" y="1920240"/>
            <a:ext cx="2606040" cy="2834640"/>
          </a:xfrm>
          <a:prstGeom prst="roundRect">
            <a:avLst>
              <a:gd name="adj" fmla="val 4211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08592" y="23774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3.2:1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491472" y="3383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AVG RISK / REWARD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537192" y="37947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Across all buy signals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0586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Swap these four tiles for the metrics that matter to your story — keep one color per tile.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DAILY INTEL — PENNY STOCK DISCOVERY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720072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09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E4E8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Signal Performance by Month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7223760" cy="4297680"/>
          </a:xfrm>
          <a:prstGeom prst="roundRect">
            <a:avLst>
              <a:gd name="adj" fmla="val 2553"/>
            </a:avLst>
          </a:prstGeom>
          <a:solidFill>
            <a:srgbClr val="0C1017"/>
          </a:solidFill>
          <a:ln w="12700">
            <a:solidFill>
              <a:srgbClr val="1E2530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914400" y="2011680"/>
          <a:ext cx="66751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3"/>
          <p:cNvSpPr/>
          <p:nvPr/>
        </p:nvSpPr>
        <p:spPr>
          <a:xfrm>
            <a:off x="8229600" y="182880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READ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224028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8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Momentum is compounding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0" y="2542032"/>
            <a:ext cx="3319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consecutive months of improving average gains.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352044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8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May inflection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0" y="3822192"/>
            <a:ext cx="3319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Scanner v2 scoring went live — catalyst detection doubled hit rate.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8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to watch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0" y="5102352"/>
            <a:ext cx="3319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July is tracking strong but on lower scan volume.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DAILY INTEL — PENNY STOCK DISCOVERY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9720072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09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SPOTLIGHT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E4E8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Featured Discovery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828800"/>
          </a:xfrm>
          <a:prstGeom prst="roundRect">
            <a:avLst>
              <a:gd name="adj" fmla="val 6000"/>
            </a:avLst>
          </a:prstGeom>
          <a:solidFill>
            <a:srgbClr val="0C1017"/>
          </a:solidFill>
          <a:ln w="12700">
            <a:solidFill>
              <a:srgbClr val="1E2530"/>
            </a:solidFill>
            <a:prstDash val="solid"/>
          </a:ln>
        </p:spPr>
      </p:sp>
      <p:pic>
        <p:nvPicPr>
          <p:cNvPr id="5" name="Image 0" descr="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11680"/>
            <a:ext cx="868680" cy="868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0116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5528" y="29443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SCORE: 87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194560" y="1965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E8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TICK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194560" y="25420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Ticker Company Name, Inc.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194560" y="292608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A855F7">
              <a:alpha val="1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94560" y="292608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A855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BIOTECH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91840" y="292608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339DFF">
              <a:alpha val="18000"/>
            </a:srgbClr>
          </a:solidFill>
          <a:ln w="12700">
            <a:solidFill>
              <a:srgbClr val="339D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91840" y="292608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39D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NASDAQ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389120" y="29260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0F593">
              <a:alpha val="18000"/>
            </a:srgbClr>
          </a:solidFill>
          <a:ln w="12700">
            <a:solidFill>
              <a:srgbClr val="00F5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0" y="2926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BREAKING OUT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805672" y="19202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E4E8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$3.42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8805672" y="2560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+12.4%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805672" y="294436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RANGE $3.01 – $3.55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40080" y="3794760"/>
            <a:ext cx="3453384" cy="2240280"/>
          </a:xfrm>
          <a:prstGeom prst="roundRect">
            <a:avLst>
              <a:gd name="adj" fmla="val 4898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4023360"/>
            <a:ext cx="290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TRADING SIGNAL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14400" y="4434840"/>
            <a:ext cx="2904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STRONG BUY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914400" y="5029200"/>
            <a:ext cx="2904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Multiple bullish signals: insider buying, news volume, breakout momentum.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367784" y="3794760"/>
            <a:ext cx="3453384" cy="2240280"/>
          </a:xfrm>
          <a:prstGeom prst="roundRect">
            <a:avLst>
              <a:gd name="adj" fmla="val 4898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42104" y="4023360"/>
            <a:ext cx="290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PRICE TARGETS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642104" y="4434840"/>
            <a:ext cx="876808" cy="868680"/>
          </a:xfrm>
          <a:prstGeom prst="roundRect">
            <a:avLst>
              <a:gd name="adj" fmla="val 12632"/>
            </a:avLst>
          </a:prstGeom>
          <a:solidFill>
            <a:srgbClr val="12182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42104" y="4544568"/>
            <a:ext cx="876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ENTRY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642104" y="4782312"/>
            <a:ext cx="876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9D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$3.35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656072" y="4434840"/>
            <a:ext cx="876808" cy="868680"/>
          </a:xfrm>
          <a:prstGeom prst="roundRect">
            <a:avLst>
              <a:gd name="adj" fmla="val 12632"/>
            </a:avLst>
          </a:prstGeom>
          <a:solidFill>
            <a:srgbClr val="12182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56072" y="4544568"/>
            <a:ext cx="876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TARGET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5656072" y="4782312"/>
            <a:ext cx="876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$4.10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670040" y="4434840"/>
            <a:ext cx="876808" cy="868680"/>
          </a:xfrm>
          <a:prstGeom prst="roundRect">
            <a:avLst>
              <a:gd name="adj" fmla="val 12632"/>
            </a:avLst>
          </a:prstGeom>
          <a:solidFill>
            <a:srgbClr val="12182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70040" y="4544568"/>
            <a:ext cx="876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STOP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6670040" y="4782312"/>
            <a:ext cx="876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3B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$2.95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642104" y="5486400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POTENTIAL  </a:t>
            </a:r>
            <a:pPr indent="0" marL="0">
              <a:buNone/>
            </a:pPr>
            <a:r>
              <a:rPr lang="en-US" sz="1500" b="1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+22%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095488" y="3794760"/>
            <a:ext cx="3453384" cy="2240280"/>
          </a:xfrm>
          <a:prstGeom prst="roundRect">
            <a:avLst>
              <a:gd name="adj" fmla="val 4898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369808" y="4023360"/>
            <a:ext cx="2904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CATALYSTS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8369808" y="4443984"/>
            <a:ext cx="128016" cy="128016"/>
          </a:xfrm>
          <a:prstGeom prst="ellipse">
            <a:avLst/>
          </a:prstGeom>
          <a:solidFill>
            <a:srgbClr val="00F593"/>
          </a:solidFill>
          <a:ln/>
        </p:spPr>
      </p:sp>
      <p:sp>
        <p:nvSpPr>
          <p:cNvPr id="38" name="Text 35"/>
          <p:cNvSpPr/>
          <p:nvPr/>
        </p:nvSpPr>
        <p:spPr>
          <a:xfrm>
            <a:off x="8625840" y="4370832"/>
            <a:ext cx="2630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E8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Insider Buying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625840" y="4599432"/>
            <a:ext cx="2630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 open-market purchases this month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8369808" y="4974336"/>
            <a:ext cx="128016" cy="128016"/>
          </a:xfrm>
          <a:prstGeom prst="ellipse">
            <a:avLst/>
          </a:prstGeom>
          <a:solidFill>
            <a:srgbClr val="00F593"/>
          </a:solidFill>
          <a:ln/>
        </p:spPr>
      </p:sp>
      <p:sp>
        <p:nvSpPr>
          <p:cNvPr id="41" name="Text 38"/>
          <p:cNvSpPr/>
          <p:nvPr/>
        </p:nvSpPr>
        <p:spPr>
          <a:xfrm>
            <a:off x="8625840" y="4901184"/>
            <a:ext cx="2630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E8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FDA / Regulatory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8625840" y="5129784"/>
            <a:ext cx="2630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Phase-2 readout expected Q3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8369808" y="5504688"/>
            <a:ext cx="128016" cy="128016"/>
          </a:xfrm>
          <a:prstGeom prst="ellipse">
            <a:avLst/>
          </a:prstGeom>
          <a:solidFill>
            <a:srgbClr val="FF3B5C"/>
          </a:solidFill>
          <a:ln/>
        </p:spPr>
      </p:sp>
      <p:sp>
        <p:nvSpPr>
          <p:cNvPr id="44" name="Text 41"/>
          <p:cNvSpPr/>
          <p:nvPr/>
        </p:nvSpPr>
        <p:spPr>
          <a:xfrm>
            <a:off x="8625840" y="5431536"/>
            <a:ext cx="2630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4E8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Dilution Risk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8625840" y="5660136"/>
            <a:ext cx="2630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Shelf offering on file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DAILY INTEL — PENNY STOCK DISCOVERY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9720072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09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PROCESS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E4E8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 the Pipeline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46120" y="2743200"/>
            <a:ext cx="283464" cy="0"/>
          </a:xfrm>
          <a:prstGeom prst="line">
            <a:avLst/>
          </a:prstGeom>
          <a:noFill/>
          <a:ln w="19050">
            <a:solidFill>
              <a:srgbClr val="1E2530"/>
            </a:solidFill>
            <a:prstDash val="solid"/>
          </a:ln>
        </p:spPr>
      </p:sp>
      <p:pic>
        <p:nvPicPr>
          <p:cNvPr id="5" name="Image 0" descr="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774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33832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611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SCAN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02336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200+ ticker universe, shuffled and screened against price, float, and change filters.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35624" y="2743200"/>
            <a:ext cx="283464" cy="0"/>
          </a:xfrm>
          <a:prstGeom prst="line">
            <a:avLst/>
          </a:prstGeom>
          <a:noFill/>
          <a:ln w="19050">
            <a:solidFill>
              <a:srgbClr val="1E2530"/>
            </a:solidFill>
            <a:prstDash val="solid"/>
          </a:ln>
        </p:spPr>
      </p:sp>
      <p:pic>
        <p:nvPicPr>
          <p:cNvPr id="11" name="Image 1" descr="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904" y="2377440"/>
            <a:ext cx="731520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03904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3529584" y="33832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803904" y="3611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SCORE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803904" y="402336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Multi-factor composite: momentum, market cap, news volume, insider activity, volatility.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025128" y="2743200"/>
            <a:ext cx="283464" cy="0"/>
          </a:xfrm>
          <a:prstGeom prst="line">
            <a:avLst/>
          </a:prstGeom>
          <a:noFill/>
          <a:ln w="19050">
            <a:solidFill>
              <a:srgbClr val="1E2530"/>
            </a:solidFill>
            <a:prstDash val="solid"/>
          </a:ln>
        </p:spPr>
      </p:sp>
      <p:pic>
        <p:nvPicPr>
          <p:cNvPr id="17" name="Image 2" descr="ch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2377440"/>
            <a:ext cx="731520" cy="7315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93408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6419088" y="33832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693408" y="3611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SIGNAL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693408" y="402336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Scores map to actions — strong buy, buy, hold, avoid — with entry, target, and stop.</a:t>
            </a:r>
            <a:endParaRPr lang="en-US" sz="1050" dirty="0"/>
          </a:p>
        </p:txBody>
      </p:sp>
      <p:pic>
        <p:nvPicPr>
          <p:cNvPr id="22" name="Image 3" descr="chi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2912" y="2377440"/>
            <a:ext cx="731520" cy="7315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582912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9308592" y="338328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9582912" y="3611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SHIP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582912" y="402336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892A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 discoveries published daily with full catalyst and risk breakdown.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DAILY INTEL — PENNY STOCK DISCOVERY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9720072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09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475488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48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80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280160" y="55778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4E8E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DAILY INTEL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280160" y="8321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0586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PENNY STOCK DISCOVERY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4E8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3429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00F5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YOUR.NAME@DAILYINTEL.APP  |  DAILYINTEL.APP_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4892040"/>
            <a:ext cx="10908792" cy="1234440"/>
          </a:xfrm>
          <a:prstGeom prst="roundRect">
            <a:avLst>
              <a:gd name="adj" fmla="val 8889"/>
            </a:avLst>
          </a:prstGeom>
          <a:solidFill>
            <a:srgbClr val="FF3B5C">
              <a:alpha val="10000"/>
            </a:srgbClr>
          </a:solidFill>
          <a:ln w="12700">
            <a:solidFill>
              <a:srgbClr val="FF3B5C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5074920"/>
            <a:ext cx="10268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spc="200" kern="0" dirty="0">
                <a:solidFill>
                  <a:srgbClr val="FF3B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DISCLAIMER 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3B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 educational purposes only. Penny stocks are extremely risky. Never invest money you can't afford to lose. Always do your own research.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DAILY INTEL — Presentation Template</dc:title>
  <dc:subject>PptxGenJS Presentation</dc:subject>
  <dc:creator>DAILY INTEL</dc:creator>
  <cp:lastModifiedBy>DAILY INTEL</cp:lastModifiedBy>
  <cp:revision>1</cp:revision>
  <dcterms:created xsi:type="dcterms:W3CDTF">2026-07-21T09:21:38Z</dcterms:created>
  <dcterms:modified xsi:type="dcterms:W3CDTF">2026-07-21T09:21:38Z</dcterms:modified>
</cp:coreProperties>
</file>